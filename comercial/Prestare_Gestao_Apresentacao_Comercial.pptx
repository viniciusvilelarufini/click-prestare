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 Prestare é administradora local, com carteira em Catanduva. Antes de avançar, recapitule em uma frase a dor que o síndico declarou no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a dor que ELE declarou, com as palavras dele. Não leia os três — use o que se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 central: não é mais um app, é a substituição de três contratos.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'uau' para quem já é cliente Superlógica. Nenhum concorrente na região entrega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antes: 'já sumiu encomenda aí?' e 'o interfone toca muito?'. A resposta abre este slide sozinha.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linha do tempo rolando. É o que convence o síndico de que existe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o argumento de segurança. Se o condomínio já teve incidente, é o momento de citá-lo.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síndico morador este costuma ser o slide mais forte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as quatro faixas. Diga só a que se aplica ao prédio dele e vá direto para o próximo slide, que é o número que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reunião, calcule o valor exato para o número de unidades DESTE condomínio e substitua a linha destacada.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síndico instalar o app na sua frente, ainda na reunião. Quem instala, lembra.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8412480" cy="7772400"/>
          </a:xfrm>
          <a:prstGeom prst="rect">
            <a:avLst/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pic>
        <p:nvPicPr>
          <p:cNvPr id="3" name="Image 0" descr="/home/claude/prestare/folder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1143000" cy="1143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48840" y="11155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PRESTARE GESTÃO E TECNOLOGIA · CATANDUVA/SP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194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Prestare — Gestão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461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1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condomínio inteiro na mão do morador —</a:t>
            </a:r>
            <a:endParaRPr lang="en-US" sz="21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1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síndico com o controle na tela.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6309360" cy="384048"/>
          </a:xfrm>
          <a:prstGeom prst="roundRect">
            <a:avLst>
              <a:gd name="adj" fmla="val 19048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5720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+ Convivência + Financeiro em um só sistema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comercial · 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59952" y="667512"/>
            <a:ext cx="2771721" cy="5522976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32000"/>
              </a:srgbClr>
            </a:outerShdw>
          </a:effectLst>
        </p:spPr>
      </p:sp>
      <p:pic>
        <p:nvPicPr>
          <p:cNvPr id="11" name="Image 1" descr="/home/claude/prestare/folder/ceade4b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777240"/>
            <a:ext cx="255226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 A DIA DE QUEM É SÍNDICO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problemas consomem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semana do síndico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898648"/>
            <a:ext cx="475488" cy="475488"/>
          </a:xfrm>
          <a:prstGeom prst="ellipse">
            <a:avLst/>
          </a:prstGeom>
          <a:solidFill>
            <a:srgbClr val="0B2A63"/>
          </a:solidFill>
          <a:ln w="12700">
            <a:solidFill>
              <a:srgbClr val="0B2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788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fica sabendo de nada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154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 no elevador, grupo de WhatsApp ingovernável, assembleia sem quórum.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133088"/>
            <a:ext cx="475488" cy="475488"/>
          </a:xfrm>
          <a:prstGeom prst="ellipse">
            <a:avLst/>
          </a:prstGeom>
          <a:solidFill>
            <a:srgbClr val="0B2A63"/>
          </a:solidFill>
          <a:ln w="12700">
            <a:solidFill>
              <a:srgbClr val="0B2A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023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portaria ainda é um caderno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389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anotado à mão, encomenda que some, nenhum histórico quando dá problema.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67528"/>
            <a:ext cx="475488" cy="475488"/>
          </a:xfrm>
          <a:prstGeom prst="ellipse">
            <a:avLst/>
          </a:prstGeom>
          <a:solidFill>
            <a:srgbClr val="0B2A63"/>
          </a:solidFill>
          <a:ln w="12700">
            <a:solidFill>
              <a:srgbClr val="0B2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257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síndico virou call center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 liga para pedir 2ª via de boleto, reservar salão e saber o que ficou decidido.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sistemas que o condomínio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separado — em um só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971800"/>
            <a:ext cx="475488" cy="475488"/>
          </a:xfrm>
          <a:prstGeom prst="ellipse">
            <a:avLst/>
          </a:prstGeom>
          <a:solidFill>
            <a:srgbClr val="0B2A63"/>
          </a:solidFill>
          <a:ln w="12700">
            <a:solidFill>
              <a:srgbClr val="0B2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digital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Visitantes, prestadores, encomendas, ocorrências e reconhecimento facial. Tudo registrado.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2651760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971800"/>
            <a:ext cx="475488" cy="47548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1728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Convivência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áreas, comunicados, assembleias e votações, mudanças, enquetes e documentos.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2651760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2971800"/>
            <a:ext cx="475488" cy="475488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condominial integrada ao ERP. O morador paga por Pix sem sair do aplicativo.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contrato. Um fornecedor. Um lugar para o morador olhar.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667512"/>
            <a:ext cx="2771721" cy="5522976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32000"/>
              </a:srgbClr>
            </a:outerShdw>
          </a:effectLst>
        </p:spPr>
      </p:sp>
      <p:pic>
        <p:nvPicPr>
          <p:cNvPr id="3" name="Image 0" descr="/home/claude/prestare/folder/ceade4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2552265" cy="5303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· ANDROID E IPHONE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3258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módulos na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tela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754880" y="3282696"/>
            <a:ext cx="137160" cy="137160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74920" y="3182112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o morador precisa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3493008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Encomendas, visitas do dia, saldo do condomínio e os módulos em uma lista só.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54880" y="4197096"/>
            <a:ext cx="137160" cy="137160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74920" y="4096512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treinamento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4407408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pessoa usa WhatsApp, usa o Prestare. Foi feito para o morador de 70 anos também.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54880" y="5111496"/>
            <a:ext cx="137160" cy="137160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0" y="5010912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login, vários imóveis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5321808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apartamento em mais de um condomínio vê todos no mesmo aplicativo.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5852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morador resolve sozinho. O síndico deixa de ser o atendimento do prédio.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457200"/>
            <a:ext cx="6400800" cy="7772400"/>
          </a:xfrm>
          <a:prstGeom prst="rect">
            <a:avLst/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9872" y="667512"/>
            <a:ext cx="2771721" cy="5522976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32000"/>
              </a:srgbClr>
            </a:outerShdw>
          </a:effectLst>
        </p:spPr>
      </p:sp>
      <p:pic>
        <p:nvPicPr>
          <p:cNvPr id="4" name="Image 0" descr="/home/claude/prestare/folder/ad6f85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777240"/>
            <a:ext cx="2552265" cy="5303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INTEGRADO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258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boleto do condomínio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aplicativo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40080" y="319125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309067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direto do ERP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40156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cobrança é a mesma da administração. Sem digitação, sem planilha paralela.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415137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405079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copia-e-cola na tela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36168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morador paga em segundos. Boleto em PDF e envio de comprovante no mesmo lugar.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511149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501091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Acabou o pedido de 2ª via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32180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Condomínio, aluguel, água, luz e internet, com o total pendente sempre visível.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667512"/>
            <a:ext cx="2771721" cy="5522976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32000"/>
              </a:srgbClr>
            </a:outerShdw>
          </a:effectLst>
        </p:spPr>
      </p:sp>
      <p:pic>
        <p:nvPicPr>
          <p:cNvPr id="3" name="Image 0" descr="/home/claude/prestare/folder/640400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2552265" cy="5303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CONVIVÊNCIA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3258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área comum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 pelo celular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754880" y="3282696"/>
            <a:ext cx="137160" cy="137160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74920" y="3182112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morador reserva sozinho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3493008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espaço, a data e confirma — sem passar pela portaria nem pelo síndico.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54880" y="4197096"/>
            <a:ext cx="137160" cy="137160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74920" y="4096512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é do síndico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4407408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Taxa, horário, antecedência e limite de convidados; o app não deixa reservar fora da regra.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54880" y="5111496"/>
            <a:ext cx="137160" cy="137160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0" y="5010912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única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5321808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Acaba a reserva em duplicidade e a discussão de quem chegou primeiro.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BOLSO DO MORADOR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 e visitante, sem interfone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96112" y="1673352"/>
            <a:ext cx="2223675" cy="4379976"/>
          </a:xfrm>
          <a:prstGeom prst="roundRect">
            <a:avLst>
              <a:gd name="adj" fmla="val 20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32000"/>
              </a:srgbClr>
            </a:outerShdw>
          </a:effectLst>
        </p:spPr>
      </p:sp>
      <p:pic>
        <p:nvPicPr>
          <p:cNvPr id="5" name="Image 0" descr="/home/claude/prestare/folder/6d0d6d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004219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22192" y="1673352"/>
            <a:ext cx="2221664" cy="4379976"/>
          </a:xfrm>
          <a:prstGeom prst="roundRect">
            <a:avLst>
              <a:gd name="adj" fmla="val 20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32000"/>
              </a:srgbClr>
            </a:outerShdw>
          </a:effectLst>
        </p:spPr>
      </p:sp>
      <p:pic>
        <p:nvPicPr>
          <p:cNvPr id="7" name="Image 1" descr="/home/claude/prestare/folder/5f41beb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783080"/>
            <a:ext cx="2002208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49440" y="218541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69480" y="2084832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na hora, com foto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269480" y="23957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encomenda registrada na portaria aparece no celular do morador com foto do pacote e o status da retirada.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949440" y="341985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69480" y="3319272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 por PIN e QR Code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36301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morador pré-autoriza família, amigos, diarista e entregador. A portaria só valida.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949440" y="465429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69480" y="4553712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 com dia e horário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269480" y="48646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Faxineira, piscineiro, eletricista: cadastrados uma vez, liberados nos dias combinados.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COM INTELIGÊNCIA ARTIFICIAL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morador pergunta ao app —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ao síndico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606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6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“Quais visitas estão agendadas para o meu apartamento hoje?”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60604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2606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6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ficou decidido na última assembleia?”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49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6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“Posso furar parede no domingo? O que diz o regimento?”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74904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3749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6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“Qual o horário de silêncio e a regra do salão de festas?”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lê a convenção, o regimento interno e as atas do condomínio. Também executa: reservar área, abrir ocorrência, consultar boleto.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WEB · SÍNDICO E PORTARIA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do prédio em tempo real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98080" cy="3739462"/>
          </a:xfrm>
          <a:prstGeom prst="roundRect">
            <a:avLst>
              <a:gd name="adj" fmla="val 1223"/>
            </a:avLst>
          </a:prstGeom>
          <a:solidFill>
            <a:srgbClr val="E4EAF6"/>
          </a:solidFill>
          <a:ln w="12700">
            <a:solidFill>
              <a:srgbClr val="E4EAF6"/>
            </a:solidFill>
            <a:prstDash val="solid"/>
          </a:ln>
        </p:spPr>
      </p:sp>
      <p:pic>
        <p:nvPicPr>
          <p:cNvPr id="5" name="Image 0" descr="/home/claude/prestare/folder/6dd394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7315200" cy="35565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21040" y="2011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uma tela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3408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 presentes agora, encomendas aguardando, ocorrências pendentes e prestadores ativos.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246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57530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entrada, saída e encomenda com horário e responsável, em ordem.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480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do condomínio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8097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Apartamentos, moradores e comunicados ativos sempre à vista.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tela que o síndico abre de manhã para saber o que aconteceu no prédio durante a noite.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· CONTROLE DE ACESSO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entra, quem sai, com autorização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98080" cy="3739462"/>
          </a:xfrm>
          <a:prstGeom prst="roundRect">
            <a:avLst>
              <a:gd name="adj" fmla="val 1223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pic>
        <p:nvPicPr>
          <p:cNvPr id="5" name="Image 0" descr="/home/claude/prestare/folder/e28f88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7315200" cy="35565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21040" y="2011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3408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 registradas automaticamente, com foto e horário.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246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pelo morador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57530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portaria solicita e o morador libera pelo aplicativo, sem interfone.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480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Pessoa, não visita solta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8097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reconhece quem já esteve no prédio e reaproveita foto e documento.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acontecer um problema, existe registro — não a memória do porteiro.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· ENCOMENDAS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encomenda deixa de sumir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98080" cy="3739462"/>
          </a:xfrm>
          <a:prstGeom prst="roundRect">
            <a:avLst>
              <a:gd name="adj" fmla="val 1223"/>
            </a:avLst>
          </a:prstGeom>
          <a:solidFill>
            <a:srgbClr val="E4EAF6"/>
          </a:solidFill>
          <a:ln w="12700">
            <a:solidFill>
              <a:srgbClr val="E4EAF6"/>
            </a:solidFill>
            <a:prstDash val="solid"/>
          </a:ln>
        </p:spPr>
      </p:sp>
      <p:pic>
        <p:nvPicPr>
          <p:cNvPr id="5" name="Image 0" descr="/home/claude/prestare/folder/5d408e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7315200" cy="35565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21040" y="2011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volume registrado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3408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Transportadora, apartamento, data e foto — do recebimento à retirada.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246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 avisado na hora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57530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clique dispara a notificação; ninguém precisa descer para perguntar.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480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pacote parado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8097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marca o que passou de 3 e de 7 dias na portaria.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Comprovante de retirada com responsável e horário: acabou o “eu nunca recebi”.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 · FINANCEIRO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apartamento por apartamento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98080" cy="3739462"/>
          </a:xfrm>
          <a:prstGeom prst="roundRect">
            <a:avLst>
              <a:gd name="adj" fmla="val 1223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pic>
        <p:nvPicPr>
          <p:cNvPr id="5" name="Image 0" descr="/home/claude/prestare/folder/a583d1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7315200" cy="35565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21040" y="2011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pendências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3408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 bloco, com a quantidade de faturas atrasadas por unidade.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246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em um clique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57530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morador, cobrança automática e conciliação bancária por OFX.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480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caixa e relatórios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8097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Receitas, despesas e exportação em CSV para a prestação de contas.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síndico enxerga a inadimplência sem precisar pedir relatório para a administradora.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DO SÍNDICO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síndico não fica preso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computador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56832" y="1261872"/>
            <a:ext cx="2551698" cy="5065776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32000"/>
              </a:srgbClr>
            </a:outerShdw>
          </a:effectLst>
        </p:spPr>
      </p:sp>
      <p:pic>
        <p:nvPicPr>
          <p:cNvPr id="5" name="Image 0" descr="/home/claude/prestare/folder/f0d99c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371600"/>
            <a:ext cx="2332242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17152" y="1261872"/>
            <a:ext cx="2551698" cy="5065776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32000"/>
              </a:srgbClr>
            </a:outerShdw>
          </a:effectLst>
        </p:spPr>
      </p:sp>
      <p:pic>
        <p:nvPicPr>
          <p:cNvPr id="7" name="Image 1" descr="/home/claude/prestare/folder/52293d4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71600"/>
            <a:ext cx="2332242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273405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60120" y="2633472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e movimentação do mês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294436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Receitas, despesas e lançamentos do condomínio na palma da mão.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60273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60120" y="3502152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por bloco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381304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inadimplência, valor pendente e quantos apartamentos devem.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47141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0120" y="4370832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sem estar em casa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468172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Reservas, ocorrências e autorizações resolvidas de qualquer lugar.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0080" y="534009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60120" y="5239512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para o conselho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555040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em PDF gerado pelo próprio aplicativo.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PRESTARE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administradora que fez o app —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um app que virou administradora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vende, instala e atende é a mesma equipe, e ela está em Catanduva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1688" y="274320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81728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condominial vem do ERP que já administra o seu condomínio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274320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3336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assinatura do contrato até o condomínio operando com o sistema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no WhatsApp, com nome e rosto. Se precisar, a gente vai até o prédio.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paga pelo tamanho do condomínio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2F5FC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0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30 unidades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R$ 298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mês, valor fixo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bloco · 1 terminal facial · suporte comercial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18288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8288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2F5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85032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2450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31ª à 60ª unidade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R$ 9,90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unidade / mês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 blocos · 1 terminal facial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1344" y="18288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8288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2F5FC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450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61ª à 120ª unidade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R$ 8,90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unidade / mês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3 blocos · 2 terminais faciais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51976" y="18288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51976" y="18288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2F5FC"/>
          </a:solidFill>
          <a:ln w="12700">
            <a:solidFill>
              <a:srgbClr val="0B2A6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26296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26296" y="2450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da 120ª unidade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226296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R$ 11,90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unidade / mês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ilimitados · terminais adicionais · gestor de conta · SLA prioritário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faixas são cumulativas: o valor do Compacto cobre as 30 primeiras unidades e, a partir da 31ª, cada unidade entra na sua faixa.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1081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implantação única: R$ 490 · parcelável em 3x · sem fidelidade obrigatória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QUE INTERESSA À ASSEMBLEIA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R$ 10 por apartamento, por mês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1945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E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condomínio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21945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21945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apartamento / mês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883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unidades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68833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R$ 298,00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68833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R$ 9,93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447288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48386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unidades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34838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R$ 595,00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48386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R$ 9,92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242816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27939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unidades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42793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R$ 1.129,00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2793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R$ 9,41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50749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unidades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50749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R$ 2.081,00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50749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R$ 10,41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“Dá menos de dez reais por apartamento por mês — e substitui o caderno da portaria, o grupo de WhatsApp e a ligação pedindo 2ª via.”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contrato ao condomínio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 em 7 dias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65176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6517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e importação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65176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e moradores vêm do ERP — ninguém digita nada.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347472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4747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47472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sociais, regras de reserva e documentos do condomínio.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2976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42976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429768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 presencial com o síndico e com o porteiro.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12064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51206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512064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 aos moradores e QR code na portaria e nos elevadores.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C4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59436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5-7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59436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594360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60% dos moradores com o app instalado em 30 dias.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5486400" cy="7772400"/>
          </a:xfrm>
          <a:prstGeom prst="rect">
            <a:avLst/>
          </a:prstGeom>
          <a:solidFill>
            <a:srgbClr val="071C45"/>
          </a:solidFill>
          <a:ln w="12700">
            <a:solidFill>
              <a:srgbClr val="071C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começar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seu prédio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475488" cy="475488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2186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 número de unidades e fechar a proposta com o valor exato.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475488" cy="475488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0873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a data da assembleia — se quiser, apresento em 10 minutos, sem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983480"/>
            <a:ext cx="475488" cy="475488"/>
          </a:xfrm>
          <a:prstGeom prst="ellipse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95604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6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30 dias sem custo, com implantação incluída, para os primeiros condomínios.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Vilela Rufini · Prestare Gestão e Tecnologia · Catanduva/SP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o aplicativo agora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01000" y="2103120"/>
            <a:ext cx="16459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0" descr="/home/claude/prestare/folder/qr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0728" y="2212848"/>
            <a:ext cx="1426464" cy="142646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00100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012680" y="2103120"/>
            <a:ext cx="16459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/home/claude/prestare/folder/qr_ap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2212848"/>
            <a:ext cx="1426464" cy="142646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01268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0" y="4389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a câmera do celular para o QR Code.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na Google Play e na App Store.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Prestare Gestão e 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Prestare — Gestão | Apresentação Comercial</dc:title>
  <dc:subject>PptxGenJS Presentation</dc:subject>
  <dc:creator>Prestare Gestão e Tecnologia</dc:creator>
  <cp:lastModifiedBy>Prestare Gestão e Tecnologia</cp:lastModifiedBy>
  <cp:revision>1</cp:revision>
  <dcterms:created xsi:type="dcterms:W3CDTF">2026-09-02T19:05:48Z</dcterms:created>
  <dcterms:modified xsi:type="dcterms:W3CDTF">2026-09-02T19:05:48Z</dcterms:modified>
</cp:coreProperties>
</file>