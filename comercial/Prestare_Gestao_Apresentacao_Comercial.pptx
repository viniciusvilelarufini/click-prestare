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 Prestare é administradora local, com 17 condomínios em Catanduva. Recapitule a dor levantada no diagnóstico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Cite a dor que ELE declarou no diagnóstico, com as palavras dele.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Argumento central: não é um app a mais, é a substituição de três contratos.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demonstre os 13. Demonstre os 3 que resolvem a dor declarada por 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'uau' para quem já é cliente Superlógica. Nenhum concorrente na região entrega 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Pergunte antes: 'já sumiu alguma encomenda aí?'. A resposta abre este slide sozinha.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síndico este é o slide mais forte: ele enxerga a inadimplência sem pedir relatório para a administradora.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Recalcule com o número real de unidades do condomínio antes da reunião.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457200"/>
            <a:ext cx="8412480" cy="7772400"/>
          </a:xfrm>
          <a:prstGeom prst="rect">
            <a:avLst/>
          </a:prstGeom>
          <a:solidFill>
            <a:srgbClr val="071C45"/>
          </a:solidFill>
          <a:ln w="12700">
            <a:solidFill>
              <a:srgbClr val="071C45"/>
            </a:solidFill>
            <a:prstDash val="solid"/>
          </a:ln>
        </p:spPr>
      </p:sp>
      <p:pic>
        <p:nvPicPr>
          <p:cNvPr id="3" name="Image 0" descr="/home/claude/prestare/img2/5b03839c-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85800"/>
            <a:ext cx="1143000" cy="1143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148840" y="10698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PRESTARE GESTÃO E TECNOLOGIA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14884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Prestare — Gestão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20040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100" dirty="0">
                <a:solidFill>
                  <a:srgbClr val="C9D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condomínio inteiro na mão do morador —</a:t>
            </a:r>
            <a:endParaRPr lang="en-US" sz="21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100" dirty="0">
                <a:solidFill>
                  <a:srgbClr val="C9D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síndico com o controle na tela.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822960" y="4526280"/>
            <a:ext cx="5852160" cy="384048"/>
          </a:xfrm>
          <a:prstGeom prst="roundRect">
            <a:avLst>
              <a:gd name="adj" fmla="val 19048"/>
            </a:avLst>
          </a:prstGeom>
          <a:solidFill>
            <a:srgbClr val="FFC800"/>
          </a:solidFill>
          <a:ln w="12700">
            <a:solidFill>
              <a:srgbClr val="FFC8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52628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Portaria + Convivência + Financeiro em um só app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A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comercial · Catanduva/SP · 2026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659368" y="704088"/>
            <a:ext cx="2790816" cy="5449824"/>
          </a:xfrm>
          <a:prstGeom prst="roundRect">
            <a:avLst>
              <a:gd name="adj" fmla="val 16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254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home/claude/prestare/img2/09ecf7ca-p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822960"/>
            <a:ext cx="2553072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 A DIA DE QUEM É SÍNDICO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8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problemas consomem</a:t>
            </a:r>
            <a:endParaRPr lang="en-US" sz="3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8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semana do síndico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60604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898648"/>
            <a:ext cx="475488" cy="475488"/>
          </a:xfrm>
          <a:prstGeom prst="ellipse">
            <a:avLst/>
          </a:prstGeom>
          <a:solidFill>
            <a:srgbClr val="0B2A63"/>
          </a:solidFill>
          <a:ln w="12700">
            <a:solidFill>
              <a:srgbClr val="0B2A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8986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7889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fica sabendo de nada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3154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Comunicado no elevador, grupo de WhatsApp ingovernável, assembleia sem quórum.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84048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4133088"/>
            <a:ext cx="475488" cy="475488"/>
          </a:xfrm>
          <a:prstGeom prst="ellipse">
            <a:avLst/>
          </a:prstGeom>
          <a:solidFill>
            <a:srgbClr val="0B2A63"/>
          </a:solidFill>
          <a:ln w="12700">
            <a:solidFill>
              <a:srgbClr val="0B2A6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1330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402336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portaria ainda é um caderno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389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Visitante anotado à mão, encomenda que some, nenhum histórico quando dá problema.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507492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5367528"/>
            <a:ext cx="475488" cy="475488"/>
          </a:xfrm>
          <a:prstGeom prst="ellipse">
            <a:avLst/>
          </a:prstGeom>
          <a:solidFill>
            <a:srgbClr val="0B2A63"/>
          </a:solidFill>
          <a:ln w="12700">
            <a:solidFill>
              <a:srgbClr val="0B2A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3675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525780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síndico virou call center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56235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liga para pedir 2ª via de boleto, reservar salão e saber o que ficou decidido.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8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sistemas que o condomínio</a:t>
            </a:r>
            <a:endParaRPr lang="en-US" sz="3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8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separado — em um só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3429000" cy="2834640"/>
          </a:xfrm>
          <a:prstGeom prst="roundRect">
            <a:avLst>
              <a:gd name="adj" fmla="val 1935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971800"/>
            <a:ext cx="475488" cy="475488"/>
          </a:xfrm>
          <a:prstGeom prst="ellipse">
            <a:avLst/>
          </a:prstGeom>
          <a:solidFill>
            <a:srgbClr val="0B2A63"/>
          </a:solidFill>
          <a:ln w="12700">
            <a:solidFill>
              <a:srgbClr val="0B2A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657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Portaria digital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1148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Visitantes, prestadores, encomendas, ocorrências e reconhecimento facial. Tudo registrado.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61688" y="2651760"/>
            <a:ext cx="3429000" cy="2834640"/>
          </a:xfrm>
          <a:prstGeom prst="roundRect">
            <a:avLst>
              <a:gd name="adj" fmla="val 1935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81728" y="2971800"/>
            <a:ext cx="475488" cy="47548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81728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3657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Convivência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4681728" y="41148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de áreas, comunicados, assembleias e votações, mudanças, enquetes e documentos.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83296" y="2651760"/>
            <a:ext cx="3429000" cy="2834640"/>
          </a:xfrm>
          <a:prstGeom prst="roundRect">
            <a:avLst>
              <a:gd name="adj" fmla="val 1935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03336" y="2971800"/>
            <a:ext cx="475488" cy="475488"/>
          </a:xfrm>
          <a:prstGeom prst="ellipse">
            <a:avLst/>
          </a:prstGeom>
          <a:solidFill>
            <a:srgbClr val="0E7C66"/>
          </a:solidFill>
          <a:ln w="12700">
            <a:solidFill>
              <a:srgbClr val="0E7C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03336" y="2971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403336" y="3657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8403336" y="41148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condominial vinda do ERP Superlógica. O morador paga por Pix sem sair do app.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contrato. Um fornecedor. Um lugar para o morador olhar.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" y="658368"/>
            <a:ext cx="2835606" cy="5541264"/>
          </a:xfrm>
          <a:prstGeom prst="roundRect">
            <a:avLst>
              <a:gd name="adj" fmla="val 16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254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home/claude/prestare/img2/09ecf7ca-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2597862" cy="5303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846320" y="914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DO MORADOR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846320" y="13258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que ele precisa</a:t>
            </a:r>
            <a:endParaRPr lang="en-US" sz="36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primeira tela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4846320" y="3282696"/>
            <a:ext cx="137160" cy="137160"/>
          </a:xfrm>
          <a:prstGeom prst="ellipse">
            <a:avLst/>
          </a:prstGeom>
          <a:solidFill>
            <a:srgbClr val="FFC800"/>
          </a:solidFill>
          <a:ln w="12700">
            <a:solidFill>
              <a:srgbClr val="FFC8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66360" y="3182112"/>
            <a:ext cx="6263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geral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166360" y="3493008"/>
            <a:ext cx="6263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Visitas do dia e encomendas aguardando retirada.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846320" y="4197096"/>
            <a:ext cx="137160" cy="137160"/>
          </a:xfrm>
          <a:prstGeom prst="ellipse">
            <a:avLst/>
          </a:prstGeom>
          <a:solidFill>
            <a:srgbClr val="FFC800"/>
          </a:solidFill>
          <a:ln w="12700">
            <a:solidFill>
              <a:srgbClr val="FFC8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66360" y="4096512"/>
            <a:ext cx="6263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Meus condomínios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166360" y="4407408"/>
            <a:ext cx="6263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morador, vários imóveis — tudo no mesmo login.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846320" y="5111496"/>
            <a:ext cx="137160" cy="137160"/>
          </a:xfrm>
          <a:prstGeom prst="ellipse">
            <a:avLst/>
          </a:prstGeom>
          <a:solidFill>
            <a:srgbClr val="FFC800"/>
          </a:solidFill>
          <a:ln w="12700">
            <a:solidFill>
              <a:srgbClr val="FFC8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66360" y="5010912"/>
            <a:ext cx="6263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Meus eventos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166360" y="5321808"/>
            <a:ext cx="6263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quem entrou e saiu do apartamento dele.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58521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morador resolve sozinho. O síndico deixa de ser o atendimento.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8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módulos para resolver</a:t>
            </a:r>
            <a:endParaRPr lang="en-US" sz="3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8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online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711196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5968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Agendar mudança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2560320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98848" y="2711196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0600" y="25968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sociais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095244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3246120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31318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Assembleias e votações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297680" y="3095244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98848" y="3246120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1318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Cadastrar visitante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630168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781044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366674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Comunicados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97680" y="3630168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98848" y="3781044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366674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Encomendas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4165092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315968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3000" y="42016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Ocorrências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297680" y="4165092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98848" y="4315968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0600" y="42016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Enquetes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4700016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4850892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143000" y="4736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297680" y="4700016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498848" y="4850892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00600" y="4736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0080" y="5234940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41248" y="5385816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143000" y="527151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Prestadores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297680" y="5234940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98848" y="5385816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00600" y="527151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Veículos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40080" y="5769864"/>
            <a:ext cx="3429000" cy="438912"/>
          </a:xfrm>
          <a:prstGeom prst="roundRect">
            <a:avLst>
              <a:gd name="adj" fmla="val 12500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1248" y="5920740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143000" y="5806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com IA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8385048" y="1298448"/>
            <a:ext cx="2566862" cy="4992624"/>
          </a:xfrm>
          <a:prstGeom prst="roundRect">
            <a:avLst>
              <a:gd name="adj" fmla="val 17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25400" dir="5400000">
              <a:srgbClr val="000000">
                <a:alpha val="35000"/>
              </a:srgbClr>
            </a:outerShdw>
          </a:effectLst>
        </p:spPr>
      </p:sp>
      <p:pic>
        <p:nvPicPr>
          <p:cNvPr id="44" name="Image 0" descr="/home/claude/prestare/img2/4b0b9b93-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417320"/>
            <a:ext cx="2329118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457200"/>
            <a:ext cx="6400800" cy="7772400"/>
          </a:xfrm>
          <a:prstGeom prst="rect">
            <a:avLst/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56448" y="658368"/>
            <a:ext cx="2835606" cy="5541264"/>
          </a:xfrm>
          <a:prstGeom prst="roundRect">
            <a:avLst>
              <a:gd name="adj" fmla="val 16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25400" dir="5400000">
              <a:srgbClr val="000000">
                <a:alpha val="35000"/>
              </a:srgbClr>
            </a:outerShdw>
          </a:effectLst>
        </p:spPr>
      </p:sp>
      <p:pic>
        <p:nvPicPr>
          <p:cNvPr id="4" name="Image 0" descr="/home/claude/prestare/img2/302df544-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777240"/>
            <a:ext cx="2597862" cy="5303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914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CONVIVÊNCIA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32588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de área de festas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direto pelo celular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640080" y="3191256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3081528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escolhe o espaço, a data e confirma — sem passar pela portaria.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4151376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4041648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Regras, taxas e prazos configurados pelo síndico; o app não deixa reservar fora da regra.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40080" y="5111496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60120" y="5001768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única: acaba a reserva em duplicidade e a discussão de quem chegou primeiro.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" y="658368"/>
            <a:ext cx="2835606" cy="5541264"/>
          </a:xfrm>
          <a:prstGeom prst="roundRect">
            <a:avLst>
              <a:gd name="adj" fmla="val 16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254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home/claude/prestare/img2/d7845b86-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2597862" cy="5303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846320" y="822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INTEGRADO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484632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boleto do condomínio</a:t>
            </a:r>
            <a:endParaRPr lang="en-US" sz="36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do aplicativo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4846320" y="2971800"/>
            <a:ext cx="6583680" cy="914400"/>
          </a:xfrm>
          <a:prstGeom prst="roundRect">
            <a:avLst>
              <a:gd name="adj" fmla="val 6000"/>
            </a:avLst>
          </a:prstGeom>
          <a:solidFill>
            <a:srgbClr val="071C45"/>
          </a:solidFill>
          <a:ln w="12700">
            <a:solidFill>
              <a:srgbClr val="071C4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66360" y="30906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Vem do ERP Superlógica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166360" y="34107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cobrança é a mesma da administração — sem digitação nem planilha paralela.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846320" y="4023360"/>
            <a:ext cx="6583680" cy="914400"/>
          </a:xfrm>
          <a:prstGeom prst="roundRect">
            <a:avLst>
              <a:gd name="adj" fmla="val 6000"/>
            </a:avLst>
          </a:prstGeom>
          <a:solidFill>
            <a:srgbClr val="071C45"/>
          </a:solidFill>
          <a:ln w="12700">
            <a:solidFill>
              <a:srgbClr val="071C4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66360" y="414223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 copia-e-cola na tela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166360" y="446227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morador paga em segundos, sem procurar e-mail nem pedir 2ª via.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846320" y="5074920"/>
            <a:ext cx="6583680" cy="914400"/>
          </a:xfrm>
          <a:prstGeom prst="roundRect">
            <a:avLst>
              <a:gd name="adj" fmla="val 6000"/>
            </a:avLst>
          </a:prstGeom>
          <a:solidFill>
            <a:srgbClr val="071C45"/>
          </a:solidFill>
          <a:ln w="12700">
            <a:solidFill>
              <a:srgbClr val="071C4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66360" y="519379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Contas do mês em um lugar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166360" y="55138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Condomínio, aluguel, água e luz com o total pendente sempre visível.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457200"/>
            <a:ext cx="6675120" cy="7772400"/>
          </a:xfrm>
          <a:prstGeom prst="rect">
            <a:avLst/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5568" y="658368"/>
            <a:ext cx="2835606" cy="5541264"/>
          </a:xfrm>
          <a:prstGeom prst="roundRect">
            <a:avLst>
              <a:gd name="adj" fmla="val 16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25400" dir="5400000">
              <a:srgbClr val="000000">
                <a:alpha val="35000"/>
              </a:srgbClr>
            </a:outerShdw>
          </a:effectLst>
        </p:spPr>
      </p:sp>
      <p:pic>
        <p:nvPicPr>
          <p:cNvPr id="4" name="Image 0" descr="/home/claude/prestare/img2/5493e4e4-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777240"/>
            <a:ext cx="2597862" cy="5303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0" y="914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COM IA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132588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Dúvida sobre o condomínio?</a:t>
            </a:r>
            <a:endParaRPr lang="en-US" sz="31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morador pergunta ao app</a:t>
            </a:r>
            <a:endParaRPr lang="en-US" sz="3100" dirty="0"/>
          </a:p>
        </p:txBody>
      </p:sp>
      <p:sp>
        <p:nvSpPr>
          <p:cNvPr id="7" name="Shape 4"/>
          <p:cNvSpPr/>
          <p:nvPr/>
        </p:nvSpPr>
        <p:spPr>
          <a:xfrm>
            <a:off x="5943600" y="3108960"/>
            <a:ext cx="55778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172200" y="3163824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“Quais visitas estão agendadas para o meu apartamento?”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943600" y="3913632"/>
            <a:ext cx="55778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172200" y="3968496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que foi decidido na última assembleia?”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943600" y="4718304"/>
            <a:ext cx="557784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172200" y="4773168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“Quem trabalha na portaria hoje?”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56235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resolve: reservar área, abrir ocorrência e pagar boleto.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WEB DO SÍNDICO E DA PORTARIA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operação do condomínio em tempo real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772400" cy="3922776"/>
          </a:xfrm>
          <a:prstGeom prst="roundRect">
            <a:avLst>
              <a:gd name="adj" fmla="val 1166"/>
            </a:avLst>
          </a:prstGeom>
          <a:solidFill>
            <a:srgbClr val="E4EAF6"/>
          </a:solidFill>
          <a:ln w="12700">
            <a:solidFill>
              <a:srgbClr val="E4EAF6"/>
            </a:solidFill>
            <a:prstDash val="solid"/>
          </a:ln>
        </p:spPr>
      </p:sp>
      <p:pic>
        <p:nvPicPr>
          <p:cNvPr id="5" name="Image 0" descr="/home/claude/prestare/img/b5657020-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7589520" cy="37398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0" y="1773936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006840" y="166420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Visitantes presentes agora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8686800" y="2432304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006840" y="2322576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Encomendas aguardando retirada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8686800" y="3090672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006840" y="2980944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Ocorrências pendentes e urgentes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8686800" y="3749040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06840" y="3639312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eventos com foto e horário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8686800" y="4407408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06840" y="429768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Moradores, apartamentos, veículos e funcionários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8686800" y="5065776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006840" y="495604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 para a prestação de contas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Reconhecimento facial registra entrada e saída com foto — se acontecer algo, existe histórico.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PORTARIA · ENCOMENDAS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encomenda deixa de sumir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7498080" cy="3739462"/>
          </a:xfrm>
          <a:prstGeom prst="roundRect">
            <a:avLst>
              <a:gd name="adj" fmla="val 1223"/>
            </a:avLst>
          </a:prstGeom>
          <a:solidFill>
            <a:srgbClr val="071C45"/>
          </a:solidFill>
          <a:ln w="12700">
            <a:solidFill>
              <a:srgbClr val="071C45"/>
            </a:solidFill>
            <a:prstDash val="solid"/>
          </a:ln>
        </p:spPr>
      </p:sp>
      <p:pic>
        <p:nvPicPr>
          <p:cNvPr id="5" name="Image 0" descr="/home/claude/prestare/img2/43cb97d8-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7315200" cy="355658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21040" y="20116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volume registrado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234086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Transportadora, apartamento, data e foto — do recebimento à retirada.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324612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notificado na hora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357530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clique manda o aviso; ninguém mais precisa descer para perguntar.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448056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de encomenda parada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321040" y="480974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marca o que passou de 3 e de 7 dias na portaria.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volumes registrados neste condomínio de demonstração — 40 já retirados, com data e responsável.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PORTARIA · CONTROLE DE ACESSO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entra, quem sai, com autorização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7498080" cy="3739462"/>
          </a:xfrm>
          <a:prstGeom prst="roundRect">
            <a:avLst>
              <a:gd name="adj" fmla="val 1223"/>
            </a:avLst>
          </a:prstGeom>
          <a:solidFill>
            <a:srgbClr val="E4EAF6"/>
          </a:solidFill>
          <a:ln w="12700">
            <a:solidFill>
              <a:srgbClr val="E4EAF6"/>
            </a:solidFill>
            <a:prstDash val="solid"/>
          </a:ln>
        </p:spPr>
      </p:sp>
      <p:pic>
        <p:nvPicPr>
          <p:cNvPr id="5" name="Image 0" descr="/home/claude/prestare/img2/85142a73-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7315200" cy="355658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21040" y="20116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Prestadores com PIN e facial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234086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profissional tem dias liberados, PIN próprio e registro facial.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324612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Autorização do morador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357530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portaria solicita e o morador libera pelo app, sem interfone.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448056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Vínculo com apartamentos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321040" y="480974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prestador atende vários aptos, com histórico separado por unidade.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Faxineira, eletricista, piscineiro: cadastrados uma vez, liberados nos dias combinados.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ADMINISTRATIVO · FINANCEIRO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Inadimplência visível apartamento por apartamento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7498080" cy="3739462"/>
          </a:xfrm>
          <a:prstGeom prst="roundRect">
            <a:avLst>
              <a:gd name="adj" fmla="val 1223"/>
            </a:avLst>
          </a:prstGeom>
          <a:solidFill>
            <a:srgbClr val="071C45"/>
          </a:solidFill>
          <a:ln w="12700">
            <a:solidFill>
              <a:srgbClr val="071C45"/>
            </a:solidFill>
            <a:prstDash val="solid"/>
          </a:ln>
        </p:spPr>
      </p:sp>
      <p:pic>
        <p:nvPicPr>
          <p:cNvPr id="5" name="Image 0" descr="/home/claude/prestare/img2/65e46b93-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7315200" cy="355658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21040" y="20116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pendências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234086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a bloco, com quantidade de faturas atrasadas por unidade.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324612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Cobrança em um clique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357530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Cobrar morador, cobrança automática e conciliação por OFX.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448056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caixa e relatórios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321040" y="4809744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Receitas, despesas e exportação em CSV para a prestação de contas.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síndico enxerga a inadimplência sem precisar pedir relatório para a administradora.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PRESTARE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administradora que fez o app —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um app que virou administradora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3429000" cy="2011680"/>
          </a:xfrm>
          <a:prstGeom prst="roundRect">
            <a:avLst>
              <a:gd name="adj" fmla="val 2727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9718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9319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condomínios administrados pela Prestare em Catanduva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61688" y="2743200"/>
            <a:ext cx="3429000" cy="2011680"/>
          </a:xfrm>
          <a:prstGeom prst="roundRect">
            <a:avLst>
              <a:gd name="adj" fmla="val 2727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81728" y="29718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4681728" y="39319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suporte feito aqui — WhatsApp direto, não 0800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83296" y="2743200"/>
            <a:ext cx="3429000" cy="2011680"/>
          </a:xfrm>
          <a:prstGeom prst="roundRect">
            <a:avLst>
              <a:gd name="adj" fmla="val 2727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403336" y="29718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dias</a:t>
            </a:r>
            <a:endParaRPr lang="en-US" sz="5200" dirty="0"/>
          </a:p>
        </p:txBody>
      </p:sp>
      <p:sp>
        <p:nvSpPr>
          <p:cNvPr id="12" name="Text 10"/>
          <p:cNvSpPr txBox="1"/>
          <p:nvPr/>
        </p:nvSpPr>
        <p:spPr>
          <a:xfrm>
            <a:off x="8403336" y="39319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assinatura do contrato até o condomínio operando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vende, quem instala e quem atende é a mesma equipe — e ela está na cidade.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planos. Você paga pelo tamanho do condomínio.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3657600"/>
          </a:xfrm>
          <a:prstGeom prst="roundRect">
            <a:avLst>
              <a:gd name="adj" fmla="val 1600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377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ESSENCIAL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788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do morador e do síndico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429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R$ 149</a:t>
            </a:r>
            <a:pPr indent="0" marL="0"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/mês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9319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base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343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R$ 2,00 por unidade / mês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754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 única: R$ 290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61688" y="1737360"/>
            <a:ext cx="3429000" cy="4114800"/>
          </a:xfrm>
          <a:prstGeom prst="roundRect">
            <a:avLst>
              <a:gd name="adj" fmla="val 1600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84648" y="1545336"/>
            <a:ext cx="1783080" cy="384048"/>
          </a:xfrm>
          <a:prstGeom prst="roundRect">
            <a:avLst>
              <a:gd name="adj" fmla="val 19048"/>
            </a:avLst>
          </a:prstGeom>
          <a:solidFill>
            <a:srgbClr val="FFC800"/>
          </a:solidFill>
          <a:ln w="12700">
            <a:solidFill>
              <a:srgbClr val="FFC8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84648" y="154533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1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MAIS ESCOLHIDO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PROFISSIONAL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25603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D6E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+ sistema web completo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681728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R$ 297</a:t>
            </a:r>
            <a:pPr indent="0" marL="0">
              <a:buNone/>
            </a:pPr>
            <a:r>
              <a:rPr lang="en-US" sz="1400" dirty="0">
                <a:solidFill>
                  <a:srgbClr val="D6E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/mês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4681728" y="3703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base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81728" y="41148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R$ 2,80 por unidade / mês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681728" y="4526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E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 única: R$ 490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3296" y="1965960"/>
            <a:ext cx="3429000" cy="3657600"/>
          </a:xfrm>
          <a:prstGeom prst="roundRect">
            <a:avLst>
              <a:gd name="adj" fmla="val 1600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03336" y="2377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403336" y="2788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+ controle de acesso facial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403336" y="3429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R$ 497</a:t>
            </a:r>
            <a:pPr indent="0" marL="0"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/mês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8403336" y="39319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base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403336" y="4343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R$ 3,80 por unidade / mês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403336" y="4754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 única: R$ 790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0807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fidelidade obrigatória · Implantação parcelável em 3x · Preço congelado por 12 meses no contrato anual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SIMULAÇÃO PARA UM PRÉDIO DE 60 UNIDADES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R$ 8 por apartamento, por mês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48840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214884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A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Essencial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995160" y="214884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Profissional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235440" y="2148840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A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071C45"/>
          </a:solidFill>
          <a:ln w="12700">
            <a:solidFill>
              <a:srgbClr val="071C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267919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Mensalidade total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267919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R$ 269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267919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R$ 465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9235440" y="267919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R$ 725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071C45"/>
          </a:solidFill>
          <a:ln w="12700">
            <a:solidFill>
              <a:srgbClr val="071C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45643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 (1ª vez)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345643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R$ 290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345643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R$ 490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345643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R$ 790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40080" y="4206240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071C45"/>
          </a:solidFill>
          <a:ln w="12700">
            <a:solidFill>
              <a:srgbClr val="071C4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23367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em 12 meses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754880" y="423367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R$ 3.518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423367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R$ 6.070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423367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R$ 9.490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40080" y="4983480"/>
            <a:ext cx="10881360" cy="658368"/>
          </a:xfrm>
          <a:prstGeom prst="roundRect">
            <a:avLst>
              <a:gd name="adj" fmla="val 6944"/>
            </a:avLst>
          </a:prstGeom>
          <a:solidFill>
            <a:srgbClr val="FFC800"/>
          </a:solidFill>
          <a:ln w="12700">
            <a:solidFill>
              <a:srgbClr val="FFC8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01091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71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apartamento / mês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754880" y="501091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1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R$ 4,48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6995160" y="501091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1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R$ 7,75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501091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1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R$ 12,08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C9D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número que ganha a assembleia: R$ 7,75 por apartamento substitui o caderno da portaria, o grupo de WhatsApp e a ligação pedindo 2ª via.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8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ao condomínio</a:t>
            </a:r>
            <a:endParaRPr lang="en-US" sz="3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8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operando em 7 dias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60604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65176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 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265176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Ativação e importação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2651760"/>
            <a:ext cx="6217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e moradores vêm da Superlógica — sem digitar nada.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42900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347472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 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34747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3474720"/>
            <a:ext cx="6217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Áreas sociais, regras de reserva e documentos do condomínio.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29768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 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194560" y="429768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4297680"/>
            <a:ext cx="6217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hora presencial com o síndico e com o porteiro.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512064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 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512064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5120640"/>
            <a:ext cx="6217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Comunicado aos moradores e QR code na portaria e nos elevadores.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897880"/>
            <a:ext cx="10881360" cy="713232"/>
          </a:xfrm>
          <a:prstGeom prst="roundRect">
            <a:avLst>
              <a:gd name="adj" fmla="val 7692"/>
            </a:avLst>
          </a:prstGeom>
          <a:solidFill>
            <a:srgbClr val="E8F0FF"/>
          </a:solidFill>
          <a:ln w="12700">
            <a:solidFill>
              <a:srgbClr val="E8F0FF"/>
            </a:solidFill>
            <a:prstDash val="solid"/>
          </a:ln>
          <a:effectLst>
            <a:outerShdw sx="100000" sy="100000" kx="0" ky="0" algn="bl" rotWithShape="0" blurRad="101600" dist="12700" dir="5400000">
              <a:srgbClr val="9AA9C4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14400" y="59436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 5-7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194560" y="594360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Acompanhamento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5943600"/>
            <a:ext cx="6217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 60% dos moradores com o app instalado em 30 dias.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-457200"/>
            <a:ext cx="5486400" cy="7772400"/>
          </a:xfrm>
          <a:prstGeom prst="rect">
            <a:avLst/>
          </a:prstGeom>
          <a:solidFill>
            <a:srgbClr val="071C45"/>
          </a:solidFill>
          <a:ln w="12700">
            <a:solidFill>
              <a:srgbClr val="071C45"/>
            </a:solidFill>
            <a:prstDash val="solid"/>
          </a:ln>
        </p:spPr>
      </p:sp>
      <p:pic>
        <p:nvPicPr>
          <p:cNvPr id="3" name="Image 0" descr="/home/claude/prestare/img2/5b03839c-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3108960" cy="31089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46720" y="52120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Baixe agora e simplifique</a:t>
            </a:r>
            <a:endParaRPr lang="en-US" sz="14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AFC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 a dia do seu condomínio.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005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46304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começar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pelo seu prédio</a:t>
            </a:r>
            <a:endParaRPr lang="en-US" sz="4200" dirty="0"/>
          </a:p>
        </p:txBody>
      </p:sp>
      <p:sp>
        <p:nvSpPr>
          <p:cNvPr id="7" name="Shape 4"/>
          <p:cNvSpPr/>
          <p:nvPr/>
        </p:nvSpPr>
        <p:spPr>
          <a:xfrm>
            <a:off x="822960" y="3246120"/>
            <a:ext cx="475488" cy="475488"/>
          </a:xfrm>
          <a:prstGeom prst="ellipse">
            <a:avLst/>
          </a:prstGeom>
          <a:solidFill>
            <a:srgbClr val="FFC800"/>
          </a:solidFill>
          <a:ln w="12700">
            <a:solidFill>
              <a:srgbClr val="FFC8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32461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1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321868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6E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o número de unidades e fechar a proposta com o valor exato.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4114800"/>
            <a:ext cx="475488" cy="475488"/>
          </a:xfrm>
          <a:prstGeom prst="ellipse">
            <a:avLst/>
          </a:prstGeom>
          <a:solidFill>
            <a:srgbClr val="FFC800"/>
          </a:solidFill>
          <a:ln w="12700">
            <a:solidFill>
              <a:srgbClr val="FFC8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4114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1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408736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6E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a data da assembleia — se quiser, apresento em 10 minutos, sem custo.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22960" y="4983480"/>
            <a:ext cx="475488" cy="475488"/>
          </a:xfrm>
          <a:prstGeom prst="ellipse">
            <a:avLst/>
          </a:prstGeom>
          <a:solidFill>
            <a:srgbClr val="FFC800"/>
          </a:solidFill>
          <a:ln w="12700">
            <a:solidFill>
              <a:srgbClr val="FFC8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71C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95604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6E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de 30 dias sem custo, com implantação incluída, para os primeiros condomínios.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6035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Prestare Gestão e Tecnologia · Catanduva/SP · prestaregestao.com.br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Prestare Gestão e 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Prestare — Gestão | Apresentação Comercial</dc:title>
  <dc:subject>PptxGenJS Presentation</dc:subject>
  <dc:creator>Prestare Gestão e Tecnologia</dc:creator>
  <cp:lastModifiedBy>Prestare Gestão e Tecnologia</cp:lastModifiedBy>
  <cp:revision>1</cp:revision>
  <dcterms:created xsi:type="dcterms:W3CDTF">2026-08-26T17:04:59Z</dcterms:created>
  <dcterms:modified xsi:type="dcterms:W3CDTF">2026-08-26T17:04:59Z</dcterms:modified>
</cp:coreProperties>
</file>